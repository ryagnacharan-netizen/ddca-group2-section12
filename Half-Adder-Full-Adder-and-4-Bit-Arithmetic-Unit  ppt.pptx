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12192000"/>
  <p:embeddedFontLst>
    <p:embeddedFont>
      <p:font typeface="Azeret Mono" panose="020B0604020202020204" charset="0"/>
      <p:regular r:id="rId11"/>
    </p:embeddedFont>
    <p:embeddedFont>
      <p:font typeface="Azeret Mono Bold" panose="020B0604020202020204" charset="0"/>
      <p:regular r:id="rId12"/>
    </p:embeddedFont>
    <p:embeddedFont>
      <p:font typeface="Azeret Mono Medium" panose="020B0604020202020204" charset="0"/>
      <p:regular r:id="rId13"/>
    </p:embeddedFont>
    <p:embeddedFont>
      <p:font typeface="Krona One" panose="020B0604020202020204" charset="0"/>
      <p:regular r:id="rId14"/>
    </p:embeddedFont>
    <p:embeddedFont>
      <p:font typeface="Lexend" panose="020B0604020202020204" charset="0"/>
      <p:regular r:id="rId15"/>
    </p:embeddedFont>
    <p:embeddedFont>
      <p:font typeface="Lexend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277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moves from one-bit addition to a complete four-bit unsigned ripple-carry arithmetic unit. The circuit is built from basic gates, then verified with representative binary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begin with the one-bit behavior. XOR determines whether the two inputs differ, while AND and OR networks carry a result into the next bit position. Repeating this structure creates a four-bit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half adder handles two input bits. A full adder adds a third input, Cin, which arrives from the previous stage. Two half adders expose the intermediate XOR result and the two carry conditions; the OR gate combines those conditions. The intermediate sum from HA1 feeds HA2; the OR combines the carry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Logisim-style implementation view. The least-significant stage starts with zero carry-in. Every later full adder waits for the previous carry, which is why this architecture is called ripple-carry.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test cases exercise the basic path, an internal carry, and a carry beyond the four-bit word. The final example is especially important: zero is the four-bit sum, while C4 records the overflow beyond the most significant 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modular: the full adder is the reusable building block, and the four-bit unit is a direct cascade. Faster carry logic, controlled inversion for subtraction, and wider word sizes are natural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A0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A0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A0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A0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0A0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0A0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756" y="838200"/>
            <a:ext cx="685147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DIGITAL ELECTRONICS PROJECT · SECTION 12  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9756" y="1199286"/>
            <a:ext cx="6241894" cy="238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600" kern="100" spc="-46" dirty="0">
                <a:solidFill>
                  <a:srgbClr val="F4C45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Half Adder,</a:t>
            </a:r>
            <a:endParaRPr lang="en-US" sz="46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4600" kern="100" spc="-46" dirty="0">
                <a:solidFill>
                  <a:srgbClr val="F4C45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Full Adder &amp;</a:t>
            </a:r>
            <a:endParaRPr lang="en-US" sz="46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4600" kern="100" spc="-46" dirty="0">
                <a:solidFill>
                  <a:srgbClr val="F4C45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4-Bit Arithmetic Unit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739756" y="3790355"/>
            <a:ext cx="2059730" cy="38100"/>
          </a:xfrm>
          <a:prstGeom prst="roundRect">
            <a:avLst>
              <a:gd name="adj" fmla="val 49999"/>
            </a:avLst>
          </a:prstGeom>
          <a:solidFill>
            <a:srgbClr val="F4C45A"/>
          </a:solidFill>
          <a:ln/>
        </p:spPr>
      </p:sp>
      <p:sp>
        <p:nvSpPr>
          <p:cNvPr id="5" name="Text 3"/>
          <p:cNvSpPr/>
          <p:nvPr/>
        </p:nvSpPr>
        <p:spPr>
          <a:xfrm>
            <a:off x="739756" y="4264700"/>
            <a:ext cx="6241894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4C45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From basic gates to an unsigned ripple-carry adder.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9756" y="5136079"/>
            <a:ext cx="6241894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B7BCE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JOSHITH NVS PERUGU    — 2620030096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B7BCE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POTNURU RISHITH KUMAR — 2620030126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B7BCE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R YAGNA CHARAN        — 2620030129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B7BCE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CHIGULAPALLY VINEETH  — 2620030155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19809" y="965200"/>
            <a:ext cx="3936902" cy="4851400"/>
          </a:xfrm>
          <a:prstGeom prst="roundRect">
            <a:avLst>
              <a:gd name="adj" fmla="val 3871"/>
            </a:avLst>
          </a:prstGeom>
          <a:solidFill>
            <a:srgbClr val="262D92"/>
          </a:solidFill>
          <a:ln/>
        </p:spPr>
      </p:sp>
      <p:sp>
        <p:nvSpPr>
          <p:cNvPr id="8" name="Text 6"/>
          <p:cNvSpPr/>
          <p:nvPr/>
        </p:nvSpPr>
        <p:spPr>
          <a:xfrm>
            <a:off x="7899202" y="1244600"/>
            <a:ext cx="39877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4-BIT ADDER · OVERVIEW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8787" y="2540000"/>
            <a:ext cx="584185" cy="25400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8787" y="3378200"/>
            <a:ext cx="584185" cy="25400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61343" y="2946400"/>
            <a:ext cx="533387" cy="25400"/>
          </a:xfrm>
          <a:prstGeom prst="line">
            <a:avLst/>
          </a:prstGeom>
          <a:solidFill>
            <a:srgbClr val="F4C45A"/>
          </a:solidFill>
          <a:ln w="25400">
            <a:solidFill>
              <a:srgbClr val="5CC9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24602" y="2235200"/>
            <a:ext cx="990575" cy="584200"/>
          </a:xfrm>
          <a:prstGeom prst="roundRect">
            <a:avLst>
              <a:gd name="adj" fmla="val 15652"/>
            </a:avLst>
          </a:prstGeom>
          <a:solidFill>
            <a:srgbClr val="F4C45A"/>
          </a:solidFill>
          <a:ln/>
        </p:spPr>
      </p:sp>
      <p:sp>
        <p:nvSpPr>
          <p:cNvPr id="13" name="Text 11"/>
          <p:cNvSpPr/>
          <p:nvPr/>
        </p:nvSpPr>
        <p:spPr>
          <a:xfrm>
            <a:off x="7673783" y="2395875"/>
            <a:ext cx="149221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A[3:0]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24602" y="3098800"/>
            <a:ext cx="990575" cy="584200"/>
          </a:xfrm>
          <a:prstGeom prst="roundRect">
            <a:avLst>
              <a:gd name="adj" fmla="val 15652"/>
            </a:avLst>
          </a:prstGeom>
          <a:solidFill>
            <a:srgbClr val="F4C45A"/>
          </a:solidFill>
          <a:ln/>
        </p:spPr>
      </p:sp>
      <p:sp>
        <p:nvSpPr>
          <p:cNvPr id="15" name="Text 13"/>
          <p:cNvSpPr/>
          <p:nvPr/>
        </p:nvSpPr>
        <p:spPr>
          <a:xfrm>
            <a:off x="7673783" y="3259475"/>
            <a:ext cx="149221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B[3:0]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67573" y="2336800"/>
            <a:ext cx="1244569" cy="1625600"/>
          </a:xfrm>
          <a:prstGeom prst="roundRect">
            <a:avLst>
              <a:gd name="adj" fmla="val 9796"/>
            </a:avLst>
          </a:prstGeom>
          <a:solidFill>
            <a:srgbClr val="0E1150"/>
          </a:solidFill>
          <a:ln/>
        </p:spPr>
      </p:sp>
      <p:sp>
        <p:nvSpPr>
          <p:cNvPr id="17" name="Text 15"/>
          <p:cNvSpPr/>
          <p:nvPr/>
        </p:nvSpPr>
        <p:spPr>
          <a:xfrm>
            <a:off x="9169171" y="2612469"/>
            <a:ext cx="1041374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FA0</a:t>
            </a:r>
            <a:endParaRPr lang="en-US" sz="15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FA1</a:t>
            </a:r>
            <a:endParaRPr lang="en-US" sz="15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FA2</a:t>
            </a:r>
            <a:endParaRPr lang="en-US" sz="15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FA3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693132" y="2667000"/>
            <a:ext cx="736582" cy="584200"/>
          </a:xfrm>
          <a:prstGeom prst="roundRect">
            <a:avLst>
              <a:gd name="adj" fmla="val 15652"/>
            </a:avLst>
          </a:prstGeom>
          <a:solidFill>
            <a:srgbClr val="5CC98B"/>
          </a:solidFill>
          <a:ln/>
        </p:spPr>
      </p:sp>
      <p:sp>
        <p:nvSpPr>
          <p:cNvPr id="19" name="Text 17"/>
          <p:cNvSpPr/>
          <p:nvPr/>
        </p:nvSpPr>
        <p:spPr>
          <a:xfrm>
            <a:off x="10442314" y="2827675"/>
            <a:ext cx="123821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S[3:0]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423164" y="4267200"/>
            <a:ext cx="1041374" cy="558800"/>
          </a:xfrm>
          <a:prstGeom prst="roundRect">
            <a:avLst>
              <a:gd name="adj" fmla="val 16363"/>
            </a:avLst>
          </a:prstGeom>
          <a:solidFill>
            <a:srgbClr val="F4C45A"/>
          </a:solidFill>
          <a:ln/>
        </p:spPr>
      </p:sp>
      <p:sp>
        <p:nvSpPr>
          <p:cNvPr id="21" name="Text 19"/>
          <p:cNvSpPr/>
          <p:nvPr/>
        </p:nvSpPr>
        <p:spPr>
          <a:xfrm>
            <a:off x="9172346" y="4415175"/>
            <a:ext cx="154301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89858" y="3962400"/>
            <a:ext cx="25399" cy="304800"/>
          </a:xfrm>
          <a:prstGeom prst="line">
            <a:avLst/>
          </a:prstGeom>
          <a:solidFill>
            <a:srgbClr val="F4C45A"/>
          </a:solidFill>
          <a:ln w="25400">
            <a:solidFill>
              <a:srgbClr val="E850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8575" y="5007293"/>
            <a:ext cx="324476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B7BCE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Inputs → repeated full adders → sum and carry-out</a:t>
            </a:r>
            <a:endParaRPr lang="en-US" sz="13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59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DESIGN OBJECTIVE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58786" y="756563"/>
            <a:ext cx="1107412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700" kern="100" spc="-27" dirty="0">
                <a:solidFill>
                  <a:srgbClr val="F4C45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From one-bit addition to a 4-bit arithmetic unit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58786" y="1321348"/>
            <a:ext cx="11632909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same two outputs repeat at every bit position: a sum bit and a carry bit.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48244" y="1817191"/>
            <a:ext cx="5384665" cy="3582888"/>
          </a:xfrm>
          <a:prstGeom prst="rect">
            <a:avLst/>
          </a:prstGeom>
          <a:solidFill>
            <a:srgbClr val="262D92"/>
          </a:solidFill>
          <a:ln/>
          <a:effectLst>
            <a:outerShdw blurRad="278130" dist="127" dir="16200000" algn="bl" rotWithShape="0">
              <a:srgbClr val="B7BCEB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76838" y="2045791"/>
            <a:ext cx="515607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EEF0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76838" y="2390430"/>
            <a:ext cx="4927477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Design half adders and full adders from basic gates, then cascade full adders to perform 4-bit binary addition. XOR produces the sum bit while AND/OR networks propagate carry.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76838" y="3791446"/>
            <a:ext cx="4927378" cy="31651"/>
          </a:xfrm>
          <a:prstGeom prst="roundRect">
            <a:avLst>
              <a:gd name="adj" fmla="val 49998"/>
            </a:avLst>
          </a:prstGeom>
          <a:solidFill>
            <a:srgbClr val="5B62C6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4002584"/>
            <a:ext cx="515607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EEF0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OUTCOME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76838" y="4347222"/>
            <a:ext cx="4927477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modular unit accepts A3–A0 and B3–B0 and produces S3–S0 plus a final carry-out.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1271" y="2676128"/>
            <a:ext cx="1129379" cy="656630"/>
          </a:xfrm>
          <a:prstGeom prst="roundRect">
            <a:avLst>
              <a:gd name="adj" fmla="val 18567"/>
            </a:avLst>
          </a:prstGeom>
          <a:solidFill>
            <a:srgbClr val="262D92"/>
          </a:solidFill>
          <a:ln/>
        </p:spPr>
      </p:sp>
      <p:sp>
        <p:nvSpPr>
          <p:cNvPr id="12" name="Text 10"/>
          <p:cNvSpPr/>
          <p:nvPr/>
        </p:nvSpPr>
        <p:spPr>
          <a:xfrm>
            <a:off x="558786" y="2873018"/>
            <a:ext cx="153576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input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271" y="3884414"/>
            <a:ext cx="1129379" cy="656630"/>
          </a:xfrm>
          <a:prstGeom prst="roundRect">
            <a:avLst>
              <a:gd name="adj" fmla="val 18567"/>
            </a:avLst>
          </a:prstGeom>
          <a:solidFill>
            <a:srgbClr val="262D92"/>
          </a:solidFill>
          <a:ln/>
        </p:spPr>
      </p:sp>
      <p:sp>
        <p:nvSpPr>
          <p:cNvPr id="14" name="Text 12"/>
          <p:cNvSpPr/>
          <p:nvPr/>
        </p:nvSpPr>
        <p:spPr>
          <a:xfrm>
            <a:off x="558786" y="4081304"/>
            <a:ext cx="153576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 input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740749" y="2991346"/>
            <a:ext cx="288918" cy="26194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40749" y="4199632"/>
            <a:ext cx="288918" cy="26194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29667" y="2833787"/>
            <a:ext cx="1470881" cy="1864916"/>
          </a:xfrm>
          <a:prstGeom prst="roundRect">
            <a:avLst>
              <a:gd name="adj" fmla="val 10361"/>
            </a:avLst>
          </a:prstGeom>
          <a:solidFill>
            <a:srgbClr val="0E1150"/>
          </a:solidFill>
          <a:ln/>
        </p:spPr>
      </p:sp>
      <p:sp>
        <p:nvSpPr>
          <p:cNvPr id="18" name="Text 16"/>
          <p:cNvSpPr/>
          <p:nvPr/>
        </p:nvSpPr>
        <p:spPr>
          <a:xfrm>
            <a:off x="2156664" y="3093879"/>
            <a:ext cx="1216888" cy="1352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BASIC GATES</a:t>
            </a:r>
            <a:endParaRPr lang="en-US" sz="15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XOR · AND</a:t>
            </a:r>
            <a:endParaRPr lang="en-US" sz="15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OR network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00548" y="3306564"/>
            <a:ext cx="288918" cy="26194"/>
          </a:xfrm>
          <a:prstGeom prst="line">
            <a:avLst/>
          </a:prstGeom>
          <a:solidFill>
            <a:srgbClr val="F4C45A"/>
          </a:solidFill>
          <a:ln w="25400">
            <a:solidFill>
              <a:srgbClr val="5CC9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00548" y="4225925"/>
            <a:ext cx="288918" cy="26194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89466" y="2991346"/>
            <a:ext cx="998116" cy="630337"/>
          </a:xfrm>
          <a:prstGeom prst="roundRect">
            <a:avLst>
              <a:gd name="adj" fmla="val 19342"/>
            </a:avLst>
          </a:prstGeom>
          <a:solidFill>
            <a:srgbClr val="5CC98B"/>
          </a:solidFill>
          <a:ln/>
        </p:spPr>
      </p:sp>
      <p:sp>
        <p:nvSpPr>
          <p:cNvPr id="22" name="Text 20"/>
          <p:cNvSpPr/>
          <p:nvPr/>
        </p:nvSpPr>
        <p:spPr>
          <a:xfrm>
            <a:off x="3543707" y="3175040"/>
            <a:ext cx="148963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789466" y="3910707"/>
            <a:ext cx="998116" cy="630337"/>
          </a:xfrm>
          <a:prstGeom prst="roundRect">
            <a:avLst>
              <a:gd name="adj" fmla="val 19342"/>
            </a:avLst>
          </a:prstGeom>
          <a:solidFill>
            <a:srgbClr val="F4C45A"/>
          </a:solidFill>
          <a:ln/>
        </p:spPr>
      </p:sp>
      <p:sp>
        <p:nvSpPr>
          <p:cNvPr id="24" name="Text 22"/>
          <p:cNvSpPr/>
          <p:nvPr/>
        </p:nvSpPr>
        <p:spPr>
          <a:xfrm>
            <a:off x="3543707" y="4094401"/>
            <a:ext cx="148963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CARRY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87582" y="3293467"/>
            <a:ext cx="262625" cy="26194"/>
          </a:xfrm>
          <a:prstGeom prst="line">
            <a:avLst/>
          </a:prstGeom>
          <a:solidFill>
            <a:srgbClr val="F4C45A"/>
          </a:solidFill>
          <a:ln w="25400">
            <a:solidFill>
              <a:srgbClr val="5CC9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87582" y="4212729"/>
            <a:ext cx="262625" cy="26194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50306" y="2978249"/>
            <a:ext cx="814169" cy="656630"/>
          </a:xfrm>
          <a:prstGeom prst="roundRect">
            <a:avLst>
              <a:gd name="adj" fmla="val 18567"/>
            </a:avLst>
          </a:prstGeom>
          <a:solidFill>
            <a:srgbClr val="F4C45A"/>
          </a:solidFill>
          <a:ln/>
        </p:spPr>
      </p:sp>
      <p:sp>
        <p:nvSpPr>
          <p:cNvPr id="28" name="Text 26"/>
          <p:cNvSpPr/>
          <p:nvPr/>
        </p:nvSpPr>
        <p:spPr>
          <a:xfrm>
            <a:off x="4804548" y="3175139"/>
            <a:ext cx="1138904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S3–S0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50306" y="3897610"/>
            <a:ext cx="814169" cy="656630"/>
          </a:xfrm>
          <a:prstGeom prst="roundRect">
            <a:avLst>
              <a:gd name="adj" fmla="val 18567"/>
            </a:avLst>
          </a:prstGeom>
          <a:solidFill>
            <a:srgbClr val="F4C45A"/>
          </a:solidFill>
          <a:ln/>
        </p:spPr>
      </p:sp>
      <p:sp>
        <p:nvSpPr>
          <p:cNvPr id="30" name="Text 28"/>
          <p:cNvSpPr/>
          <p:nvPr/>
        </p:nvSpPr>
        <p:spPr>
          <a:xfrm>
            <a:off x="4804548" y="4094500"/>
            <a:ext cx="1138904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C4</a:t>
            </a:r>
            <a:endParaRPr lang="en-US" sz="15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591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177800"/>
            <a:ext cx="1188690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GATE-LEVEL LOGIC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04792" y="502563"/>
            <a:ext cx="1158211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700" kern="100" spc="-27" dirty="0">
                <a:solidFill>
                  <a:srgbClr val="F4C45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Half adder and full adder logic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04792" y="1063030"/>
            <a:ext cx="5714857" cy="2638524"/>
          </a:xfrm>
          <a:prstGeom prst="rect">
            <a:avLst/>
          </a:prstGeom>
          <a:solidFill>
            <a:srgbClr val="262D92"/>
          </a:solidFill>
          <a:ln/>
          <a:effectLst>
            <a:outerShdw blurRad="278130" dist="127" dir="16200000" algn="bl" rotWithShape="0">
              <a:srgbClr val="B7BCEB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1789" y="1177965"/>
            <a:ext cx="546086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Half adder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31789" y="2899962"/>
            <a:ext cx="558786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 = A ⊕ B; C = A ∧ 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046" y="1063030"/>
            <a:ext cx="5714857" cy="2638524"/>
          </a:xfrm>
          <a:prstGeom prst="rect">
            <a:avLst/>
          </a:prstGeom>
          <a:solidFill>
            <a:srgbClr val="262D92"/>
          </a:solidFill>
          <a:ln/>
          <a:effectLst>
            <a:outerShdw blurRad="328930" dist="127" dir="16200000" algn="bl" rotWithShape="0">
              <a:srgbClr val="F4C45A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9042" y="1177965"/>
            <a:ext cx="546086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Full adder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99042" y="2895898"/>
            <a:ext cx="5460863" cy="70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Aft>
                <a:spcPts val="950"/>
              </a:spcAft>
              <a:buNone/>
            </a:pPr>
            <a:r>
              <a:rPr lang="en-US" sz="16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 = A ⊕ B ⊕ Cin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Cout = (A ∧ B) ∨ (Cin ∧ (A ⊕ B))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4792" y="3895229"/>
            <a:ext cx="37591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HALF-ADDER · TRUTH TABLE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792" y="4235549"/>
          <a:ext cx="3759108" cy="2446375"/>
        </p:xfrm>
        <a:graphic>
          <a:graphicData uri="http://schemas.openxmlformats.org/drawingml/2006/table">
            <a:tbl>
              <a:tblPr/>
              <a:tblGrid>
                <a:gridCol w="939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1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216295" y="3895229"/>
            <a:ext cx="37591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FULL-ADDER · CIN = 0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16295" y="4235549"/>
          <a:ext cx="3759108" cy="2446375"/>
        </p:xfrm>
        <a:graphic>
          <a:graphicData uri="http://schemas.openxmlformats.org/drawingml/2006/table">
            <a:tbl>
              <a:tblPr/>
              <a:tblGrid>
                <a:gridCol w="939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Cout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1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8127797" y="3895229"/>
            <a:ext cx="37591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FULL-ADDER · CIN = 1</a:t>
            </a:r>
            <a:endParaRPr lang="en-US" sz="1400" dirty="0"/>
          </a:p>
        </p:txBody>
      </p:sp>
      <p:graphicFrame>
        <p:nvGraphicFramePr>
          <p:cNvPr id="1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7797" y="4235549"/>
          <a:ext cx="3759108" cy="2446375"/>
        </p:xfrm>
        <a:graphic>
          <a:graphicData uri="http://schemas.openxmlformats.org/drawingml/2006/table">
            <a:tbl>
              <a:tblPr/>
              <a:tblGrid>
                <a:gridCol w="939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Cout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1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497966" y="1610519"/>
            <a:ext cx="695010" cy="397073"/>
          </a:xfrm>
          <a:prstGeom prst="roundRect">
            <a:avLst>
              <a:gd name="adj" fmla="val 19190"/>
            </a:avLst>
          </a:prstGeom>
          <a:solidFill>
            <a:srgbClr val="F4C45A"/>
          </a:solidFill>
          <a:ln/>
        </p:spPr>
      </p:sp>
      <p:sp>
        <p:nvSpPr>
          <p:cNvPr id="17" name="Text 12"/>
          <p:cNvSpPr/>
          <p:nvPr/>
        </p:nvSpPr>
        <p:spPr>
          <a:xfrm>
            <a:off x="304792" y="1677630"/>
            <a:ext cx="115577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97966" y="2272506"/>
            <a:ext cx="695010" cy="397073"/>
          </a:xfrm>
          <a:prstGeom prst="roundRect">
            <a:avLst>
              <a:gd name="adj" fmla="val 19190"/>
            </a:avLst>
          </a:prstGeom>
          <a:solidFill>
            <a:srgbClr val="F4C45A"/>
          </a:solidFill>
          <a:ln/>
        </p:spPr>
      </p:sp>
      <p:sp>
        <p:nvSpPr>
          <p:cNvPr id="19" name="Text 14"/>
          <p:cNvSpPr/>
          <p:nvPr/>
        </p:nvSpPr>
        <p:spPr>
          <a:xfrm>
            <a:off x="304792" y="2339618"/>
            <a:ext cx="115577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1192976" y="1809155"/>
            <a:ext cx="695010" cy="33040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92976" y="2471043"/>
            <a:ext cx="695010" cy="33040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887986" y="1709837"/>
            <a:ext cx="1092073" cy="794246"/>
          </a:xfrm>
          <a:prstGeom prst="roundRect">
            <a:avLst>
              <a:gd name="adj" fmla="val 15350"/>
            </a:avLst>
          </a:prstGeom>
          <a:solidFill>
            <a:srgbClr val="0E1150"/>
          </a:solidFill>
          <a:ln/>
        </p:spPr>
      </p:sp>
      <p:sp>
        <p:nvSpPr>
          <p:cNvPr id="23" name="Text 18"/>
          <p:cNvSpPr/>
          <p:nvPr/>
        </p:nvSpPr>
        <p:spPr>
          <a:xfrm>
            <a:off x="1657606" y="1975485"/>
            <a:ext cx="1552834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XOR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2980159" y="1875334"/>
            <a:ext cx="529517" cy="33040"/>
          </a:xfrm>
          <a:prstGeom prst="line">
            <a:avLst/>
          </a:prstGeom>
          <a:solidFill>
            <a:srgbClr val="F4C45A"/>
          </a:solidFill>
          <a:ln w="25400">
            <a:solidFill>
              <a:srgbClr val="5CC98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509676" y="1676698"/>
            <a:ext cx="1125212" cy="397073"/>
          </a:xfrm>
          <a:prstGeom prst="roundRect">
            <a:avLst>
              <a:gd name="adj" fmla="val 19190"/>
            </a:avLst>
          </a:prstGeom>
          <a:solidFill>
            <a:srgbClr val="5CC98B"/>
          </a:solidFill>
          <a:ln/>
        </p:spPr>
      </p:sp>
      <p:sp>
        <p:nvSpPr>
          <p:cNvPr id="26" name="Text 21"/>
          <p:cNvSpPr/>
          <p:nvPr/>
        </p:nvSpPr>
        <p:spPr>
          <a:xfrm>
            <a:off x="3279296" y="1743809"/>
            <a:ext cx="158597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Sum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2980159" y="2371725"/>
            <a:ext cx="529517" cy="33040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509676" y="2173188"/>
            <a:ext cx="1125212" cy="397073"/>
          </a:xfrm>
          <a:prstGeom prst="roundRect">
            <a:avLst>
              <a:gd name="adj" fmla="val 19190"/>
            </a:avLst>
          </a:prstGeom>
          <a:solidFill>
            <a:srgbClr val="F4C45A"/>
          </a:solidFill>
          <a:ln/>
        </p:spPr>
      </p:sp>
      <p:sp>
        <p:nvSpPr>
          <p:cNvPr id="29" name="Text 24"/>
          <p:cNvSpPr/>
          <p:nvPr/>
        </p:nvSpPr>
        <p:spPr>
          <a:xfrm>
            <a:off x="3279296" y="2240300"/>
            <a:ext cx="158597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Carry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6332081" y="1544340"/>
            <a:ext cx="695010" cy="364034"/>
          </a:xfrm>
          <a:prstGeom prst="roundRect">
            <a:avLst>
              <a:gd name="adj" fmla="val 20932"/>
            </a:avLst>
          </a:prstGeom>
          <a:solidFill>
            <a:srgbClr val="F4C45A"/>
          </a:solidFill>
          <a:ln/>
        </p:spPr>
      </p:sp>
      <p:sp>
        <p:nvSpPr>
          <p:cNvPr id="31" name="Text 26"/>
          <p:cNvSpPr/>
          <p:nvPr/>
        </p:nvSpPr>
        <p:spPr>
          <a:xfrm>
            <a:off x="6172046" y="1594882"/>
            <a:ext cx="115577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6332081" y="1958082"/>
            <a:ext cx="695010" cy="364034"/>
          </a:xfrm>
          <a:prstGeom prst="roundRect">
            <a:avLst>
              <a:gd name="adj" fmla="val 20932"/>
            </a:avLst>
          </a:prstGeom>
          <a:solidFill>
            <a:srgbClr val="F4C45A"/>
          </a:solidFill>
          <a:ln/>
        </p:spPr>
      </p:sp>
      <p:sp>
        <p:nvSpPr>
          <p:cNvPr id="33" name="Text 28"/>
          <p:cNvSpPr/>
          <p:nvPr/>
        </p:nvSpPr>
        <p:spPr>
          <a:xfrm>
            <a:off x="6172046" y="2008624"/>
            <a:ext cx="115577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6332081" y="2371725"/>
            <a:ext cx="695010" cy="364034"/>
          </a:xfrm>
          <a:prstGeom prst="roundRect">
            <a:avLst>
              <a:gd name="adj" fmla="val 20932"/>
            </a:avLst>
          </a:prstGeom>
          <a:solidFill>
            <a:srgbClr val="F4C45A"/>
          </a:solidFill>
          <a:ln/>
        </p:spPr>
      </p:sp>
      <p:sp>
        <p:nvSpPr>
          <p:cNvPr id="35" name="Text 30"/>
          <p:cNvSpPr/>
          <p:nvPr/>
        </p:nvSpPr>
        <p:spPr>
          <a:xfrm>
            <a:off x="6172046" y="2422267"/>
            <a:ext cx="115577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Cin</a:t>
            </a:r>
            <a:endParaRPr lang="en-US" sz="1500" dirty="0"/>
          </a:p>
        </p:txBody>
      </p:sp>
      <p:sp>
        <p:nvSpPr>
          <p:cNvPr id="36" name="Shape 31"/>
          <p:cNvSpPr/>
          <p:nvPr/>
        </p:nvSpPr>
        <p:spPr>
          <a:xfrm>
            <a:off x="7027091" y="1726406"/>
            <a:ext cx="496379" cy="33040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027091" y="2140049"/>
            <a:ext cx="496379" cy="33040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523570" y="1643658"/>
            <a:ext cx="1025896" cy="695027"/>
          </a:xfrm>
          <a:prstGeom prst="roundRect">
            <a:avLst>
              <a:gd name="adj" fmla="val 15349"/>
            </a:avLst>
          </a:prstGeom>
          <a:solidFill>
            <a:srgbClr val="0E1150"/>
          </a:solidFill>
          <a:ln/>
        </p:spPr>
      </p:sp>
      <p:sp>
        <p:nvSpPr>
          <p:cNvPr id="39" name="Text 34"/>
          <p:cNvSpPr/>
          <p:nvPr/>
        </p:nvSpPr>
        <p:spPr>
          <a:xfrm>
            <a:off x="7293189" y="1859697"/>
            <a:ext cx="1486657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HA1</a:t>
            </a:r>
            <a:endParaRPr lang="en-US" sz="1500" dirty="0"/>
          </a:p>
        </p:txBody>
      </p:sp>
      <p:sp>
        <p:nvSpPr>
          <p:cNvPr id="40" name="Shape 35"/>
          <p:cNvSpPr/>
          <p:nvPr/>
        </p:nvSpPr>
        <p:spPr>
          <a:xfrm>
            <a:off x="8549466" y="1974652"/>
            <a:ext cx="397064" cy="33040"/>
          </a:xfrm>
          <a:prstGeom prst="line">
            <a:avLst/>
          </a:prstGeom>
          <a:solidFill>
            <a:srgbClr val="F4C45A"/>
          </a:solidFill>
          <a:ln w="25400">
            <a:solidFill>
              <a:srgbClr val="5CC98B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8946629" y="1643658"/>
            <a:ext cx="1025896" cy="695027"/>
          </a:xfrm>
          <a:prstGeom prst="roundRect">
            <a:avLst>
              <a:gd name="adj" fmla="val 15349"/>
            </a:avLst>
          </a:prstGeom>
          <a:solidFill>
            <a:srgbClr val="0E1150"/>
          </a:solidFill>
          <a:ln/>
        </p:spPr>
      </p:sp>
      <p:sp>
        <p:nvSpPr>
          <p:cNvPr id="42" name="Text 37"/>
          <p:cNvSpPr/>
          <p:nvPr/>
        </p:nvSpPr>
        <p:spPr>
          <a:xfrm>
            <a:off x="8716248" y="1859697"/>
            <a:ext cx="1486657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HA2</a:t>
            </a:r>
            <a:endParaRPr lang="en-US" sz="1500" dirty="0"/>
          </a:p>
        </p:txBody>
      </p:sp>
      <p:sp>
        <p:nvSpPr>
          <p:cNvPr id="43" name="Shape 38"/>
          <p:cNvSpPr/>
          <p:nvPr/>
        </p:nvSpPr>
        <p:spPr>
          <a:xfrm>
            <a:off x="9972624" y="1825625"/>
            <a:ext cx="562556" cy="33040"/>
          </a:xfrm>
          <a:prstGeom prst="line">
            <a:avLst/>
          </a:prstGeom>
          <a:solidFill>
            <a:srgbClr val="F4C45A"/>
          </a:solidFill>
          <a:ln w="25400">
            <a:solidFill>
              <a:srgbClr val="5CC98B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0535279" y="1643658"/>
            <a:ext cx="1125212" cy="364034"/>
          </a:xfrm>
          <a:prstGeom prst="roundRect">
            <a:avLst>
              <a:gd name="adj" fmla="val 20932"/>
            </a:avLst>
          </a:prstGeom>
          <a:solidFill>
            <a:srgbClr val="5CC98B"/>
          </a:solidFill>
          <a:ln/>
        </p:spPr>
      </p:sp>
      <p:sp>
        <p:nvSpPr>
          <p:cNvPr id="45" name="Text 40"/>
          <p:cNvSpPr/>
          <p:nvPr/>
        </p:nvSpPr>
        <p:spPr>
          <a:xfrm>
            <a:off x="10304899" y="1694200"/>
            <a:ext cx="158200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Sum</a:t>
            </a:r>
            <a:endParaRPr lang="en-US" sz="1500" dirty="0"/>
          </a:p>
        </p:txBody>
      </p:sp>
      <p:sp>
        <p:nvSpPr>
          <p:cNvPr id="46" name="Shape 41"/>
          <p:cNvSpPr/>
          <p:nvPr/>
        </p:nvSpPr>
        <p:spPr>
          <a:xfrm>
            <a:off x="7027091" y="2553791"/>
            <a:ext cx="1621690" cy="33040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8946629" y="2371725"/>
            <a:ext cx="1125212" cy="364034"/>
          </a:xfrm>
          <a:prstGeom prst="roundRect">
            <a:avLst>
              <a:gd name="adj" fmla="val 20932"/>
            </a:avLst>
          </a:prstGeom>
          <a:solidFill>
            <a:srgbClr val="F4C45A"/>
          </a:solidFill>
          <a:ln/>
        </p:spPr>
      </p:sp>
      <p:sp>
        <p:nvSpPr>
          <p:cNvPr id="48" name="Text 43"/>
          <p:cNvSpPr/>
          <p:nvPr/>
        </p:nvSpPr>
        <p:spPr>
          <a:xfrm>
            <a:off x="8716248" y="2422267"/>
            <a:ext cx="158597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OR</a:t>
            </a:r>
            <a:endParaRPr lang="en-US" sz="1500" dirty="0"/>
          </a:p>
        </p:txBody>
      </p:sp>
      <p:sp>
        <p:nvSpPr>
          <p:cNvPr id="49" name="Shape 44"/>
          <p:cNvSpPr/>
          <p:nvPr/>
        </p:nvSpPr>
        <p:spPr>
          <a:xfrm>
            <a:off x="10071939" y="2553791"/>
            <a:ext cx="463340" cy="33040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0535279" y="2371725"/>
            <a:ext cx="860403" cy="364034"/>
          </a:xfrm>
          <a:prstGeom prst="roundRect">
            <a:avLst>
              <a:gd name="adj" fmla="val 20932"/>
            </a:avLst>
          </a:prstGeom>
          <a:solidFill>
            <a:srgbClr val="F4C45A"/>
          </a:solidFill>
          <a:ln/>
        </p:spPr>
      </p:sp>
      <p:sp>
        <p:nvSpPr>
          <p:cNvPr id="51" name="Text 46"/>
          <p:cNvSpPr/>
          <p:nvPr/>
        </p:nvSpPr>
        <p:spPr>
          <a:xfrm>
            <a:off x="10304899" y="2422267"/>
            <a:ext cx="1321164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Cout</a:t>
            </a:r>
            <a:endParaRPr lang="en-US" sz="1500" dirty="0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591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760" y="381000"/>
            <a:ext cx="875643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CASCADE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12760" y="705763"/>
            <a:ext cx="8146846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700" kern="100" spc="-27" dirty="0">
                <a:solidFill>
                  <a:srgbClr val="F4C45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Four full adders become a ripple-carry arithmetic unit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760" y="1640832"/>
            <a:ext cx="875643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Each stage adds one pair of bits and passes its carry to the next stage.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1182" y="2159000"/>
            <a:ext cx="1193770" cy="482600"/>
          </a:xfrm>
          <a:prstGeom prst="roundRect">
            <a:avLst>
              <a:gd name="adj" fmla="val 18947"/>
            </a:avLst>
          </a:prstGeom>
          <a:solidFill>
            <a:srgbClr val="F4C45A"/>
          </a:solidFill>
          <a:ln/>
        </p:spPr>
      </p:sp>
      <p:sp>
        <p:nvSpPr>
          <p:cNvPr id="6" name="Text 4"/>
          <p:cNvSpPr/>
          <p:nvPr/>
        </p:nvSpPr>
        <p:spPr>
          <a:xfrm>
            <a:off x="460363" y="2268875"/>
            <a:ext cx="169540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A[3:0]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1182" y="2997200"/>
            <a:ext cx="1193770" cy="482600"/>
          </a:xfrm>
          <a:prstGeom prst="roundRect">
            <a:avLst>
              <a:gd name="adj" fmla="val 18947"/>
            </a:avLst>
          </a:prstGeom>
          <a:solidFill>
            <a:srgbClr val="F4C45A"/>
          </a:solidFill>
          <a:ln/>
        </p:spPr>
      </p:sp>
      <p:sp>
        <p:nvSpPr>
          <p:cNvPr id="8" name="Text 6"/>
          <p:cNvSpPr/>
          <p:nvPr/>
        </p:nvSpPr>
        <p:spPr>
          <a:xfrm>
            <a:off x="460363" y="3107075"/>
            <a:ext cx="169540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B[3:0]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04952" y="2400300"/>
            <a:ext cx="457189" cy="25400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4952" y="3238500"/>
            <a:ext cx="457189" cy="25400"/>
          </a:xfrm>
          <a:prstGeom prst="line">
            <a:avLst/>
          </a:prstGeom>
          <a:solidFill>
            <a:srgbClr val="F4C45A"/>
          </a:solidFill>
          <a:ln w="25400">
            <a:solidFill>
              <a:srgbClr val="F4C4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62141" y="1955800"/>
            <a:ext cx="1625559" cy="1625600"/>
          </a:xfrm>
          <a:prstGeom prst="roundRect">
            <a:avLst>
              <a:gd name="adj" fmla="val 9375"/>
            </a:avLst>
          </a:prstGeom>
          <a:solidFill>
            <a:srgbClr val="262D92"/>
          </a:solidFill>
          <a:ln/>
        </p:spPr>
      </p:sp>
      <p:sp>
        <p:nvSpPr>
          <p:cNvPr id="12" name="Text 10"/>
          <p:cNvSpPr/>
          <p:nvPr/>
        </p:nvSpPr>
        <p:spPr>
          <a:xfrm>
            <a:off x="2539936" y="2294632"/>
            <a:ext cx="18795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FA0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39936" y="2705437"/>
            <a:ext cx="126996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A0 + B0</a:t>
            </a:r>
            <a:endParaRPr lang="en-US" sz="15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Cin = 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97285" y="1955800"/>
            <a:ext cx="1625559" cy="1625600"/>
          </a:xfrm>
          <a:prstGeom prst="roundRect">
            <a:avLst>
              <a:gd name="adj" fmla="val 9375"/>
            </a:avLst>
          </a:prstGeom>
          <a:solidFill>
            <a:srgbClr val="262D92"/>
          </a:solidFill>
          <a:ln/>
        </p:spPr>
      </p:sp>
      <p:sp>
        <p:nvSpPr>
          <p:cNvPr id="15" name="Text 13"/>
          <p:cNvSpPr/>
          <p:nvPr/>
        </p:nvSpPr>
        <p:spPr>
          <a:xfrm>
            <a:off x="4775081" y="2294632"/>
            <a:ext cx="18795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FA1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5081" y="2705437"/>
            <a:ext cx="126996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A1 + B1</a:t>
            </a:r>
            <a:endParaRPr lang="en-US" sz="15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Cin = C1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32429" y="1955800"/>
            <a:ext cx="1625559" cy="1625600"/>
          </a:xfrm>
          <a:prstGeom prst="roundRect">
            <a:avLst>
              <a:gd name="adj" fmla="val 9375"/>
            </a:avLst>
          </a:prstGeom>
          <a:solidFill>
            <a:srgbClr val="262D92"/>
          </a:solidFill>
          <a:ln/>
        </p:spPr>
      </p:sp>
      <p:sp>
        <p:nvSpPr>
          <p:cNvPr id="18" name="Text 16"/>
          <p:cNvSpPr/>
          <p:nvPr/>
        </p:nvSpPr>
        <p:spPr>
          <a:xfrm>
            <a:off x="7010225" y="2294632"/>
            <a:ext cx="18795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FA2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10225" y="2705437"/>
            <a:ext cx="126996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A2 + B2</a:t>
            </a:r>
            <a:endParaRPr lang="en-US" sz="15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Cin = C2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067573" y="1955800"/>
            <a:ext cx="1625559" cy="1625600"/>
          </a:xfrm>
          <a:prstGeom prst="roundRect">
            <a:avLst>
              <a:gd name="adj" fmla="val 9375"/>
            </a:avLst>
          </a:prstGeom>
          <a:solidFill>
            <a:srgbClr val="262D92"/>
          </a:solidFill>
          <a:ln/>
        </p:spPr>
      </p:sp>
      <p:sp>
        <p:nvSpPr>
          <p:cNvPr id="21" name="Text 19"/>
          <p:cNvSpPr/>
          <p:nvPr/>
        </p:nvSpPr>
        <p:spPr>
          <a:xfrm>
            <a:off x="9245369" y="2294632"/>
            <a:ext cx="18795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FA3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45369" y="2705437"/>
            <a:ext cx="126996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A3 + B3</a:t>
            </a:r>
            <a:endParaRPr lang="en-US" sz="15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Cin = C3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87700" y="2768600"/>
            <a:ext cx="609585" cy="25400"/>
          </a:xfrm>
          <a:prstGeom prst="line">
            <a:avLst/>
          </a:prstGeom>
          <a:solidFill>
            <a:srgbClr val="F4C45A"/>
          </a:solidFill>
          <a:ln w="38100">
            <a:solidFill>
              <a:srgbClr val="E850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22844" y="2768600"/>
            <a:ext cx="609585" cy="25400"/>
          </a:xfrm>
          <a:prstGeom prst="line">
            <a:avLst/>
          </a:prstGeom>
          <a:solidFill>
            <a:srgbClr val="F4C45A"/>
          </a:solidFill>
          <a:ln w="38100">
            <a:solidFill>
              <a:srgbClr val="E850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57988" y="2768600"/>
            <a:ext cx="609585" cy="25400"/>
          </a:xfrm>
          <a:prstGeom prst="line">
            <a:avLst/>
          </a:prstGeom>
          <a:solidFill>
            <a:srgbClr val="F4C45A"/>
          </a:solidFill>
          <a:ln w="38100">
            <a:solidFill>
              <a:srgbClr val="E850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697" y="2387600"/>
            <a:ext cx="380990" cy="330200"/>
          </a:xfrm>
          <a:prstGeom prst="roundRect">
            <a:avLst>
              <a:gd name="adj" fmla="val 18461"/>
            </a:avLst>
          </a:prstGeom>
          <a:solidFill>
            <a:srgbClr val="F4C45A"/>
          </a:solidFill>
          <a:ln/>
        </p:spPr>
      </p:sp>
      <p:sp>
        <p:nvSpPr>
          <p:cNvPr id="27" name="Text 25"/>
          <p:cNvSpPr/>
          <p:nvPr/>
        </p:nvSpPr>
        <p:spPr>
          <a:xfrm>
            <a:off x="3863878" y="2421275"/>
            <a:ext cx="88262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49841" y="2387600"/>
            <a:ext cx="380990" cy="330200"/>
          </a:xfrm>
          <a:prstGeom prst="roundRect">
            <a:avLst>
              <a:gd name="adj" fmla="val 18461"/>
            </a:avLst>
          </a:prstGeom>
          <a:solidFill>
            <a:srgbClr val="F4C45A"/>
          </a:solidFill>
          <a:ln/>
        </p:spPr>
      </p:sp>
      <p:sp>
        <p:nvSpPr>
          <p:cNvPr id="29" name="Text 27"/>
          <p:cNvSpPr/>
          <p:nvPr/>
        </p:nvSpPr>
        <p:spPr>
          <a:xfrm>
            <a:off x="6099022" y="2421275"/>
            <a:ext cx="88262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C2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584985" y="2387600"/>
            <a:ext cx="380990" cy="330200"/>
          </a:xfrm>
          <a:prstGeom prst="roundRect">
            <a:avLst>
              <a:gd name="adj" fmla="val 18461"/>
            </a:avLst>
          </a:prstGeom>
          <a:solidFill>
            <a:srgbClr val="F4C45A"/>
          </a:solidFill>
          <a:ln/>
        </p:spPr>
      </p:sp>
      <p:sp>
        <p:nvSpPr>
          <p:cNvPr id="31" name="Text 29"/>
          <p:cNvSpPr/>
          <p:nvPr/>
        </p:nvSpPr>
        <p:spPr>
          <a:xfrm>
            <a:off x="8334167" y="2421275"/>
            <a:ext cx="88262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C3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174921" y="3581400"/>
            <a:ext cx="25399" cy="914400"/>
          </a:xfrm>
          <a:prstGeom prst="line">
            <a:avLst/>
          </a:prstGeom>
          <a:solidFill>
            <a:srgbClr val="F4C45A"/>
          </a:solidFill>
          <a:ln w="25400">
            <a:solidFill>
              <a:srgbClr val="5CC9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10065" y="3581400"/>
            <a:ext cx="25399" cy="914400"/>
          </a:xfrm>
          <a:prstGeom prst="line">
            <a:avLst/>
          </a:prstGeom>
          <a:solidFill>
            <a:srgbClr val="F4C45A"/>
          </a:solidFill>
          <a:ln w="25400">
            <a:solidFill>
              <a:srgbClr val="5CC9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45209" y="3581400"/>
            <a:ext cx="25399" cy="914400"/>
          </a:xfrm>
          <a:prstGeom prst="line">
            <a:avLst/>
          </a:prstGeom>
          <a:solidFill>
            <a:srgbClr val="F4C45A"/>
          </a:solidFill>
          <a:ln w="25400">
            <a:solidFill>
              <a:srgbClr val="5CC9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80353" y="3581400"/>
            <a:ext cx="25399" cy="914400"/>
          </a:xfrm>
          <a:prstGeom prst="line">
            <a:avLst/>
          </a:prstGeom>
          <a:solidFill>
            <a:srgbClr val="F4C45A"/>
          </a:solidFill>
          <a:ln w="25400">
            <a:solidFill>
              <a:srgbClr val="5CC9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90735" y="4495800"/>
            <a:ext cx="1168371" cy="482600"/>
          </a:xfrm>
          <a:prstGeom prst="roundRect">
            <a:avLst>
              <a:gd name="adj" fmla="val 18947"/>
            </a:avLst>
          </a:prstGeom>
          <a:solidFill>
            <a:srgbClr val="5CC98B"/>
          </a:solidFill>
          <a:ln/>
        </p:spPr>
      </p:sp>
      <p:sp>
        <p:nvSpPr>
          <p:cNvPr id="37" name="Text 35"/>
          <p:cNvSpPr/>
          <p:nvPr/>
        </p:nvSpPr>
        <p:spPr>
          <a:xfrm>
            <a:off x="2339916" y="4605675"/>
            <a:ext cx="167000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S0 LED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825879" y="4495800"/>
            <a:ext cx="1168371" cy="482600"/>
          </a:xfrm>
          <a:prstGeom prst="roundRect">
            <a:avLst>
              <a:gd name="adj" fmla="val 18947"/>
            </a:avLst>
          </a:prstGeom>
          <a:solidFill>
            <a:srgbClr val="5CC98B"/>
          </a:solidFill>
          <a:ln/>
        </p:spPr>
      </p:sp>
      <p:sp>
        <p:nvSpPr>
          <p:cNvPr id="39" name="Text 37"/>
          <p:cNvSpPr/>
          <p:nvPr/>
        </p:nvSpPr>
        <p:spPr>
          <a:xfrm>
            <a:off x="4575061" y="4605675"/>
            <a:ext cx="167000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S1 LED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061023" y="4495800"/>
            <a:ext cx="1168371" cy="482600"/>
          </a:xfrm>
          <a:prstGeom prst="roundRect">
            <a:avLst>
              <a:gd name="adj" fmla="val 18947"/>
            </a:avLst>
          </a:prstGeom>
          <a:solidFill>
            <a:srgbClr val="5CC98B"/>
          </a:solidFill>
          <a:ln/>
        </p:spPr>
      </p:sp>
      <p:sp>
        <p:nvSpPr>
          <p:cNvPr id="41" name="Text 39"/>
          <p:cNvSpPr/>
          <p:nvPr/>
        </p:nvSpPr>
        <p:spPr>
          <a:xfrm>
            <a:off x="6810205" y="4605675"/>
            <a:ext cx="167000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S2 LED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296167" y="4495800"/>
            <a:ext cx="1168371" cy="482600"/>
          </a:xfrm>
          <a:prstGeom prst="roundRect">
            <a:avLst>
              <a:gd name="adj" fmla="val 18947"/>
            </a:avLst>
          </a:prstGeom>
          <a:solidFill>
            <a:srgbClr val="5CC98B"/>
          </a:solidFill>
          <a:ln/>
        </p:spPr>
      </p:sp>
      <p:sp>
        <p:nvSpPr>
          <p:cNvPr id="43" name="Text 41"/>
          <p:cNvSpPr/>
          <p:nvPr/>
        </p:nvSpPr>
        <p:spPr>
          <a:xfrm>
            <a:off x="9045349" y="4605675"/>
            <a:ext cx="167000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S3 LED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693132" y="2768600"/>
            <a:ext cx="584185" cy="25400"/>
          </a:xfrm>
          <a:prstGeom prst="line">
            <a:avLst/>
          </a:prstGeom>
          <a:solidFill>
            <a:srgbClr val="F4C45A"/>
          </a:solidFill>
          <a:ln w="38100">
            <a:solidFill>
              <a:srgbClr val="E8505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43931" y="3124200"/>
            <a:ext cx="914377" cy="482600"/>
          </a:xfrm>
          <a:prstGeom prst="roundRect">
            <a:avLst>
              <a:gd name="adj" fmla="val 18947"/>
            </a:avLst>
          </a:prstGeom>
          <a:solidFill>
            <a:srgbClr val="F4C45A"/>
          </a:solidFill>
          <a:ln/>
        </p:spPr>
      </p:sp>
      <p:sp>
        <p:nvSpPr>
          <p:cNvPr id="46" name="Text 44"/>
          <p:cNvSpPr/>
          <p:nvPr/>
        </p:nvSpPr>
        <p:spPr>
          <a:xfrm>
            <a:off x="10493112" y="3234075"/>
            <a:ext cx="141601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C4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58786" y="5562600"/>
            <a:ext cx="11074123" cy="787400"/>
          </a:xfrm>
          <a:prstGeom prst="roundRect">
            <a:avLst>
              <a:gd name="adj" fmla="val 15484"/>
            </a:avLst>
          </a:prstGeom>
          <a:solidFill>
            <a:srgbClr val="262D92"/>
          </a:solidFill>
          <a:ln/>
        </p:spPr>
      </p:sp>
      <p:sp>
        <p:nvSpPr>
          <p:cNvPr id="48" name="Text 46"/>
          <p:cNvSpPr/>
          <p:nvPr/>
        </p:nvSpPr>
        <p:spPr>
          <a:xfrm>
            <a:off x="812780" y="5743893"/>
            <a:ext cx="1056613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B7BCE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FA0 connects the least-significant bits with Cin = 0. The chain then carries C1 → FA1, C2 → FA2, and C3 → FA3. Read S0–S3 as the result; C4 indicates a carry beyond the most significant bit.</a:t>
            </a:r>
            <a:endParaRPr lang="en-US" sz="1300" dirty="0"/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591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152400"/>
            <a:ext cx="1183610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SIMULATION CHECK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55591" y="477163"/>
            <a:ext cx="1148051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700" kern="100" spc="-27" dirty="0">
                <a:solidFill>
                  <a:srgbClr val="F4C45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Simulation results verify the 4-bit addition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55591" y="1037630"/>
            <a:ext cx="5587860" cy="2702024"/>
          </a:xfrm>
          <a:prstGeom prst="roundRect">
            <a:avLst>
              <a:gd name="adj" fmla="val 5640"/>
            </a:avLst>
          </a:prstGeom>
          <a:solidFill>
            <a:srgbClr val="262D92"/>
          </a:solidFill>
          <a:ln w="6350">
            <a:solidFill>
              <a:srgbClr val="B7BCEB">
                <a:alpha val="42000"/>
              </a:srgbClr>
            </a:solidFill>
            <a:prstDash val="solid"/>
          </a:ln>
          <a:effectLst>
            <a:outerShdw blurRad="278130" dist="127" dir="16200000" algn="bl" rotWithShape="0">
              <a:srgbClr val="B7BCEB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8938" y="1170980"/>
            <a:ext cx="545451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EEF0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LOGISIM-STYLE STATES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8938" y="1515618"/>
            <a:ext cx="5454514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EEF0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0000 + 0000</a:t>
            </a: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→ </a:t>
            </a:r>
            <a:r>
              <a:rPr lang="en-US" sz="1700" dirty="0">
                <a:solidFill>
                  <a:srgbClr val="F4C45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0000</a:t>
            </a: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C4 = 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88938" y="1997174"/>
            <a:ext cx="5321167" cy="31651"/>
          </a:xfrm>
          <a:prstGeom prst="roundRect">
            <a:avLst>
              <a:gd name="adj" fmla="val 49998"/>
            </a:avLst>
          </a:prstGeom>
          <a:solidFill>
            <a:srgbClr val="B7BCEB"/>
          </a:solidFill>
          <a:ln/>
        </p:spPr>
      </p:sp>
      <p:sp>
        <p:nvSpPr>
          <p:cNvPr id="8" name="Text 6"/>
          <p:cNvSpPr/>
          <p:nvPr/>
        </p:nvSpPr>
        <p:spPr>
          <a:xfrm>
            <a:off x="488938" y="2212630"/>
            <a:ext cx="5454514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EEF0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0101 + 0011</a:t>
            </a: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→ </a:t>
            </a:r>
            <a:r>
              <a:rPr lang="en-US" sz="1700" dirty="0">
                <a:solidFill>
                  <a:srgbClr val="F4C45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1000</a:t>
            </a: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C4 = 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88938" y="2694186"/>
            <a:ext cx="5321167" cy="31651"/>
          </a:xfrm>
          <a:prstGeom prst="roundRect">
            <a:avLst>
              <a:gd name="adj" fmla="val 49998"/>
            </a:avLst>
          </a:prstGeom>
          <a:solidFill>
            <a:srgbClr val="B7BCEB"/>
          </a:solidFill>
          <a:ln/>
        </p:spPr>
      </p:sp>
      <p:sp>
        <p:nvSpPr>
          <p:cNvPr id="10" name="Text 8"/>
          <p:cNvSpPr/>
          <p:nvPr/>
        </p:nvSpPr>
        <p:spPr>
          <a:xfrm>
            <a:off x="488938" y="2909641"/>
            <a:ext cx="5454514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EEF0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1111 + 0001</a:t>
            </a: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→ </a:t>
            </a:r>
            <a:r>
              <a:rPr lang="en-US" sz="1700" dirty="0">
                <a:solidFill>
                  <a:srgbClr val="F4C45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0000</a:t>
            </a: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r>
              <a:rPr lang="en-US" sz="1700" b="1" dirty="0">
                <a:solidFill>
                  <a:srgbClr val="F4C45A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C4 = 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48244" y="1037630"/>
            <a:ext cx="5587860" cy="2702024"/>
          </a:xfrm>
          <a:prstGeom prst="roundRect">
            <a:avLst>
              <a:gd name="adj" fmla="val 5640"/>
            </a:avLst>
          </a:prstGeom>
          <a:solidFill>
            <a:srgbClr val="262D92"/>
          </a:solidFill>
          <a:ln w="6350">
            <a:solidFill>
              <a:srgbClr val="B7BCEB">
                <a:alpha val="42000"/>
              </a:srgbClr>
            </a:solidFill>
            <a:prstDash val="solid"/>
          </a:ln>
          <a:effectLst>
            <a:outerShdw blurRad="278130" dist="127" dir="16200000" algn="bl" rotWithShape="0">
              <a:srgbClr val="B7BCEB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81590" y="1170980"/>
            <a:ext cx="545451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EEF0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CARRY PATH · 1111 + 0001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81590" y="1511300"/>
            <a:ext cx="1215995" cy="763687"/>
          </a:xfrm>
          <a:prstGeom prst="rect">
            <a:avLst/>
          </a:prstGeom>
          <a:solidFill>
            <a:srgbClr val="B7BCEB"/>
          </a:solidFill>
          <a:ln/>
        </p:spPr>
      </p:sp>
      <p:sp>
        <p:nvSpPr>
          <p:cNvPr id="14" name="Text 12"/>
          <p:cNvSpPr/>
          <p:nvPr/>
        </p:nvSpPr>
        <p:spPr>
          <a:xfrm>
            <a:off x="6381590" y="1744218"/>
            <a:ext cx="1215995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FA0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49981" y="1511300"/>
            <a:ext cx="1215995" cy="763687"/>
          </a:xfrm>
          <a:prstGeom prst="rect">
            <a:avLst/>
          </a:prstGeom>
          <a:solidFill>
            <a:srgbClr val="B7BCEB"/>
          </a:solidFill>
          <a:ln/>
        </p:spPr>
      </p:sp>
      <p:sp>
        <p:nvSpPr>
          <p:cNvPr id="16" name="Text 14"/>
          <p:cNvSpPr/>
          <p:nvPr/>
        </p:nvSpPr>
        <p:spPr>
          <a:xfrm>
            <a:off x="7749981" y="1744218"/>
            <a:ext cx="1215995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FA1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18372" y="1511300"/>
            <a:ext cx="1215995" cy="763687"/>
          </a:xfrm>
          <a:prstGeom prst="rect">
            <a:avLst/>
          </a:prstGeom>
          <a:solidFill>
            <a:srgbClr val="B7BCEB"/>
          </a:solidFill>
          <a:ln/>
        </p:spPr>
      </p:sp>
      <p:sp>
        <p:nvSpPr>
          <p:cNvPr id="18" name="Text 16"/>
          <p:cNvSpPr/>
          <p:nvPr/>
        </p:nvSpPr>
        <p:spPr>
          <a:xfrm>
            <a:off x="9118372" y="1744218"/>
            <a:ext cx="1215995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FA2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0486763" y="1511300"/>
            <a:ext cx="1215995" cy="763687"/>
          </a:xfrm>
          <a:prstGeom prst="rect">
            <a:avLst/>
          </a:prstGeom>
          <a:solidFill>
            <a:srgbClr val="B7BC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486763" y="1744218"/>
            <a:ext cx="1215995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FA3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81590" y="2405479"/>
            <a:ext cx="545451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EEF0FF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Highlighted carry path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48244" y="2747915"/>
            <a:ext cx="558786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F4C45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C1 → C2 → C3 → C4 = 1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81590" y="3180576"/>
            <a:ext cx="532116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EEF0FF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Four-bit sum: </a:t>
            </a:r>
            <a:r>
              <a:rPr lang="en-US" sz="1300" b="1" kern="100" spc="13" dirty="0">
                <a:solidFill>
                  <a:srgbClr val="EEF0FF"/>
                </a:solidFill>
                <a:latin typeface="Azeret Mono Bold" pitchFamily="34" charset="0"/>
                <a:ea typeface="Azeret Mono Bold" pitchFamily="34" charset="-122"/>
                <a:cs typeface="Azeret Mono Bold" pitchFamily="34" charset="-120"/>
              </a:rPr>
              <a:t>0000</a:t>
            </a:r>
            <a:r>
              <a:rPr lang="en-US" sz="1300" kern="100" spc="13" dirty="0">
                <a:solidFill>
                  <a:srgbClr val="EEF0FF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 · final carry beyond the word: </a:t>
            </a:r>
            <a:r>
              <a:rPr lang="en-US" sz="1300" b="1" kern="100" spc="13" dirty="0">
                <a:solidFill>
                  <a:srgbClr val="EEF0FF"/>
                </a:solidFill>
                <a:latin typeface="Azeret Mono Bold" pitchFamily="34" charset="0"/>
                <a:ea typeface="Azeret Mono Bold" pitchFamily="34" charset="-122"/>
                <a:cs typeface="Azeret Mono Bold" pitchFamily="34" charset="-120"/>
              </a:rPr>
              <a:t>C4 = 1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591" y="3933329"/>
          <a:ext cx="11480513" cy="1670405"/>
        </p:xfrm>
        <a:graphic>
          <a:graphicData uri="http://schemas.openxmlformats.org/drawingml/2006/table">
            <a:tbl>
              <a:tblPr/>
              <a:tblGrid>
                <a:gridCol w="2755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3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6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C45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C4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0000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0000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0000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0101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0011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1000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1111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0001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0000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EF0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01598" marR="101598" marT="50799" marB="50799" anchor="ctr">
                    <a:lnL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355591" y="5826343"/>
            <a:ext cx="1148051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B7BCE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The circuit performs binary addition correctly. Ripple carry determines the propagation delay because each stage depends on the carry from the stage before it.</a:t>
            </a:r>
            <a:endParaRPr lang="en-US" sz="13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591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279400"/>
            <a:ext cx="1178530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F4C45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TAKEAWAY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06390" y="604163"/>
            <a:ext cx="11378915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700" kern="100" spc="-27" dirty="0">
                <a:solidFill>
                  <a:srgbClr val="F4C45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Conclusion: a modular adder with wide digital applications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6390" y="2004814"/>
            <a:ext cx="6410859" cy="1529655"/>
          </a:xfrm>
          <a:prstGeom prst="rect">
            <a:avLst/>
          </a:prstGeom>
          <a:solidFill>
            <a:srgbClr val="262D92"/>
          </a:solidFill>
          <a:ln/>
          <a:effectLst>
            <a:outerShdw blurRad="278130" dist="127" dir="16200000" algn="bl" rotWithShape="0">
              <a:srgbClr val="B7BCEB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4185" y="2106414"/>
            <a:ext cx="623306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EEF0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CORE RESULT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4185" y="2517727"/>
            <a:ext cx="6055268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Two half adders and an OR gate form a full adder. Four full adders form a working 4-bit unsigned ripple-carry arithmetic unit.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06390" y="3686870"/>
            <a:ext cx="6410859" cy="1223169"/>
          </a:xfrm>
          <a:prstGeom prst="rect">
            <a:avLst/>
          </a:prstGeom>
          <a:solidFill>
            <a:srgbClr val="262D92"/>
          </a:solidFill>
          <a:ln/>
          <a:effectLst>
            <a:outerShdw blurRad="278130" dist="127" dir="16200000" algn="bl" rotWithShape="0">
              <a:srgbClr val="B7BCEB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4185" y="3788470"/>
            <a:ext cx="623306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EEF0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4185" y="4199783"/>
            <a:ext cx="6055268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ALUs, counters, address generation, digital signal processing, calculators, and processor datapaths.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06390" y="5062438"/>
            <a:ext cx="6410859" cy="1529655"/>
          </a:xfrm>
          <a:prstGeom prst="rect">
            <a:avLst/>
          </a:prstGeom>
          <a:solidFill>
            <a:srgbClr val="262D92"/>
          </a:solidFill>
          <a:ln/>
          <a:effectLst>
            <a:outerShdw blurRad="328930" dist="127" dir="16200000" algn="bl" rotWithShape="0">
              <a:srgbClr val="F4C45A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4185" y="5164038"/>
            <a:ext cx="623306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EEF0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NEXT IMPROVEMENTS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4185" y="5575352"/>
            <a:ext cx="6055268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 carry-lookahead logic for faster addition, add subtraction through XOR-controlled input inversion, and extend the design to wider word sizes.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75936" y="1725414"/>
            <a:ext cx="4815759" cy="5194201"/>
          </a:xfrm>
          <a:prstGeom prst="rect">
            <a:avLst/>
          </a:prstGeom>
          <a:solidFill>
            <a:srgbClr val="262D92"/>
          </a:solidFill>
          <a:ln/>
          <a:effectLst>
            <a:outerShdw blurRad="278130" dist="127" dir="16200000" algn="bl" rotWithShape="0">
              <a:srgbClr val="B7BCEB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53731" y="1903214"/>
            <a:ext cx="463796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42" dirty="0">
                <a:solidFill>
                  <a:srgbClr val="EEF0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MODULAR BLOCK DIAGRAM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53731" y="2310209"/>
            <a:ext cx="4460168" cy="509687"/>
          </a:xfrm>
          <a:prstGeom prst="rect">
            <a:avLst/>
          </a:prstGeom>
          <a:solidFill>
            <a:srgbClr val="F4C45A"/>
          </a:solidFill>
          <a:ln/>
        </p:spPr>
      </p:sp>
      <p:sp>
        <p:nvSpPr>
          <p:cNvPr id="16" name="Text 14"/>
          <p:cNvSpPr/>
          <p:nvPr/>
        </p:nvSpPr>
        <p:spPr>
          <a:xfrm>
            <a:off x="7553731" y="2416127"/>
            <a:ext cx="4460168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A[3:0], B[3:0]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553731" y="3205214"/>
            <a:ext cx="4460168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↓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553731" y="3888383"/>
            <a:ext cx="4460168" cy="866973"/>
          </a:xfrm>
          <a:prstGeom prst="rect">
            <a:avLst/>
          </a:prstGeom>
          <a:solidFill>
            <a:srgbClr val="0E1150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728" y="4019701"/>
            <a:ext cx="4206174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 × FULL ADDER</a:t>
            </a:r>
            <a:endParaRPr lang="en-US" sz="17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ripple-carry core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553731" y="5140674"/>
            <a:ext cx="4460168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EEF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↓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553731" y="5823843"/>
            <a:ext cx="2153886" cy="509687"/>
          </a:xfrm>
          <a:prstGeom prst="rect">
            <a:avLst/>
          </a:prstGeom>
          <a:solidFill>
            <a:srgbClr val="5CC98B"/>
          </a:solidFill>
          <a:ln/>
        </p:spPr>
      </p:sp>
      <p:sp>
        <p:nvSpPr>
          <p:cNvPr id="22" name="Text 20"/>
          <p:cNvSpPr/>
          <p:nvPr/>
        </p:nvSpPr>
        <p:spPr>
          <a:xfrm>
            <a:off x="7553731" y="5929761"/>
            <a:ext cx="2153886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S[3:0]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860013" y="5823843"/>
            <a:ext cx="2153886" cy="509687"/>
          </a:xfrm>
          <a:prstGeom prst="rect">
            <a:avLst/>
          </a:prstGeom>
          <a:solidFill>
            <a:srgbClr val="0E1150"/>
          </a:solidFill>
          <a:ln/>
        </p:spPr>
      </p:sp>
      <p:sp>
        <p:nvSpPr>
          <p:cNvPr id="24" name="Text 22"/>
          <p:cNvSpPr/>
          <p:nvPr/>
        </p:nvSpPr>
        <p:spPr>
          <a:xfrm>
            <a:off x="9860013" y="5929761"/>
            <a:ext cx="2153886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75936" y="6530697"/>
            <a:ext cx="481575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EEF0FF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Unsigned output word + final carry</a:t>
            </a:r>
            <a:endParaRPr lang="en-US" sz="13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591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DE8907-65B4-8B2E-B793-2AA9F2927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4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68DC5-1DDB-80B8-7BBE-0CA4CC15F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7FC403-6F0F-E0E2-449A-B52B3AAB2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58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904</Words>
  <Application>Microsoft Office PowerPoint</Application>
  <PresentationFormat>Widescreen</PresentationFormat>
  <Paragraphs>204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Lexend Bold</vt:lpstr>
      <vt:lpstr>Azeret Mono Bold</vt:lpstr>
      <vt:lpstr>Arial</vt:lpstr>
      <vt:lpstr>Azeret Mono Medium</vt:lpstr>
      <vt:lpstr>Azeret Mono</vt:lpstr>
      <vt:lpstr>Lexend</vt:lpstr>
      <vt:lpstr>Krona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Joshith</dc:creator>
  <cp:lastModifiedBy>joshith nvs</cp:lastModifiedBy>
  <cp:revision>2</cp:revision>
  <dcterms:created xsi:type="dcterms:W3CDTF">2026-10-14T17:37:27Z</dcterms:created>
  <dcterms:modified xsi:type="dcterms:W3CDTF">2026-10-15T02:55:53Z</dcterms:modified>
</cp:coreProperties>
</file>